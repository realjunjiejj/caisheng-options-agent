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17cfe8f3f04a48" /><Relationship Type="http://schemas.openxmlformats.org/officeDocument/2006/relationships/extended-properties" Target="/docProps/app.xml" Id="Rc763c30ef19a4446" /><Relationship Type="http://schemas.openxmlformats.org/officeDocument/2006/relationships/officeDocument" Target="/ppt/presentation.xml" Id="R89e1f4f7cdb842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655adb24ba4174"/>
  </p:sldMasterIdLst>
  <p:notesMasterIdLst>
    <p:notesMasterId xmlns:r="http://schemas.openxmlformats.org/officeDocument/2006/relationships" r:id="Rfdef8ca57d614d01"/>
  </p:notesMasterIdLst>
  <p:sldIdLst>
    <p:sldId xmlns:r="http://schemas.openxmlformats.org/officeDocument/2006/relationships" id="256" r:id="Rf2b5de51a4f149ee"/>
    <p:sldId xmlns:r="http://schemas.openxmlformats.org/officeDocument/2006/relationships" id="257" r:id="R4baafc64f156480f"/>
    <p:sldId xmlns:r="http://schemas.openxmlformats.org/officeDocument/2006/relationships" id="258" r:id="R358d300a5bab421a"/>
    <p:sldId xmlns:r="http://schemas.openxmlformats.org/officeDocument/2006/relationships" id="259" r:id="R5fda4c1571974b80"/>
    <p:sldId xmlns:r="http://schemas.openxmlformats.org/officeDocument/2006/relationships" id="260" r:id="Re866b7f13e604396"/>
    <p:sldId xmlns:r="http://schemas.openxmlformats.org/officeDocument/2006/relationships" id="261" r:id="R85ec74da2b6d4256"/>
    <p:sldId xmlns:r="http://schemas.openxmlformats.org/officeDocument/2006/relationships" id="262" r:id="R7ba470f767684d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2ecac235e04a44" /><Relationship Type="http://schemas.openxmlformats.org/officeDocument/2006/relationships/slideMaster" Target="/ppt/slideMasters/slideMaster1.xml" Id="R09655adb24ba4174" /><Relationship Type="http://schemas.openxmlformats.org/officeDocument/2006/relationships/notesMaster" Target="/ppt/notesMasters/notesMaster1.xml" Id="Rfdef8ca57d614d01" /><Relationship Type="http://schemas.openxmlformats.org/officeDocument/2006/relationships/presProps" Target="/ppt/presProps.xml" Id="Ra3a5f33fe11043b0" /><Relationship Type="http://schemas.openxmlformats.org/officeDocument/2006/relationships/tableStyles" Target="/ppt/tableStyles.xml" Id="R5acfbc4c1e104034" /><Relationship Type="http://schemas.openxmlformats.org/officeDocument/2006/relationships/slide" Target="/ppt/slides/slide1.xml" Id="Rf2b5de51a4f149ee" /><Relationship Type="http://schemas.openxmlformats.org/officeDocument/2006/relationships/slide" Target="/ppt/slides/slide2.xml" Id="R4baafc64f156480f" /><Relationship Type="http://schemas.openxmlformats.org/officeDocument/2006/relationships/slide" Target="/ppt/slides/slide3.xml" Id="R358d300a5bab421a" /><Relationship Type="http://schemas.openxmlformats.org/officeDocument/2006/relationships/slide" Target="/ppt/slides/slide4.xml" Id="R5fda4c1571974b80" /><Relationship Type="http://schemas.openxmlformats.org/officeDocument/2006/relationships/slide" Target="/ppt/slides/slide5.xml" Id="Re866b7f13e604396" /><Relationship Type="http://schemas.openxmlformats.org/officeDocument/2006/relationships/slide" Target="/ppt/slides/slide6.xml" Id="R85ec74da2b6d4256" /><Relationship Type="http://schemas.openxmlformats.org/officeDocument/2006/relationships/slide" Target="/ppt/slides/slide7.xml" Id="R7ba470f767684d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e61404ddb84b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6f847bf74f4ac9" /><Relationship Type="http://schemas.openxmlformats.org/officeDocument/2006/relationships/notesMaster" Target="/ppt/notesMasters/notesMaster1.xml" Id="R1d509e3288204e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e4e7968efe42aa" /><Relationship Type="http://schemas.openxmlformats.org/officeDocument/2006/relationships/notesMaster" Target="/ppt/notesMasters/notesMaster1.xml" Id="Re3128001dbbb4b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2465e29974477c" /><Relationship Type="http://schemas.openxmlformats.org/officeDocument/2006/relationships/notesMaster" Target="/ppt/notesMasters/notesMaster1.xml" Id="Rde5207bb7cf34f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a641efd44c4d5d" /><Relationship Type="http://schemas.openxmlformats.org/officeDocument/2006/relationships/notesMaster" Target="/ppt/notesMasters/notesMaster1.xml" Id="R8d9fa7bec7034c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e0b110d9534087" /><Relationship Type="http://schemas.openxmlformats.org/officeDocument/2006/relationships/notesMaster" Target="/ppt/notesMasters/notesMaster1.xml" Id="R7cc4723843394a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2b2cfcd89a4e6e" /><Relationship Type="http://schemas.openxmlformats.org/officeDocument/2006/relationships/notesMaster" Target="/ppt/notesMasters/notesMaster1.xml" Id="R529623d1856541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e716917bc44b86" /><Relationship Type="http://schemas.openxmlformats.org/officeDocument/2006/relationships/notesMaster" Target="/ppt/notesMasters/notesMaster1.xml" Id="R4e6a3c9ab90949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https://alpaca.markets/learn/building-a-multi-agent-ai-trading-system-on-alpaca</a:t>
            </a:r>
          </a:p>
          <a:p xmlns:a="http://schemas.openxmlformats.org/drawingml/2006/main">
            <a:r>
              <a:t>- /Users/yanjunjie/Documents/Alpaca/docs/ONE_PAGE_WRITEUP.md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/Users/yanjunjie/Documents/Alpaca/README.md</a:t>
            </a:r>
          </a:p>
          <a:p xmlns:a="http://schemas.openxmlformats.org/drawingml/2006/main">
            <a:r>
              <a:t>- /Users/yanjunjie/Documents/Alpaca/src/volagent/quant/forecast.py</a:t>
            </a:r>
          </a:p>
          <a:p xmlns:a="http://schemas.openxmlformats.org/drawingml/2006/main">
            <a:r>
              <a:t>- /Users/yanjunjie/Documents/Alpaca/src/volagent/quant/strategy_selector.py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https://alpaca.markets/learn/building-a-multi-agent-ai-trading-system-on-alpaca</a:t>
            </a:r>
          </a:p>
          <a:p xmlns:a="http://schemas.openxmlformats.org/drawingml/2006/main">
            <a:r>
              <a:t>- /Users/yanjunjie/Documents/Alpaca/docs/ALPACA_MULTI_AGENT_ALIGNMENT_RESEARCH.md</a:t>
            </a:r>
          </a:p>
          <a:p xmlns:a="http://schemas.openxmlformats.org/drawingml/2006/main">
            <a:r>
              <a:t>- /Users/yanjunjie/Documents/Alpaca/src/volagent/graph/nodes.py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https://github.com/alpacahq/alpaca-mcp-server</a:t>
            </a:r>
          </a:p>
          <a:p xmlns:a="http://schemas.openxmlformats.org/drawingml/2006/main">
            <a:r>
              <a:t>- https://github.com/alpacahq/alpaca-skills</a:t>
            </a:r>
          </a:p>
          <a:p xmlns:a="http://schemas.openxmlformats.org/drawingml/2006/main">
            <a:r>
              <a:t>- https://docs.alpaca.markets/docs/options-level-3-trading</a:t>
            </a:r>
          </a:p>
          <a:p xmlns:a="http://schemas.openxmlformats.org/drawingml/2006/main">
            <a:r>
              <a:t>- /Users/yanjunjie/Documents/Alpaca/docs/ALPACA_TECHNOLOGY_LOCKBOX.md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/Users/yanjunjie/Documents/Alpaca/config/competition.yaml</a:t>
            </a:r>
          </a:p>
          <a:p xmlns:a="http://schemas.openxmlformats.org/drawingml/2006/main">
            <a:r>
              <a:t>- /Users/yanjunjie/Documents/Alpaca/src/volagent/execution/broker_risk.py</a:t>
            </a:r>
          </a:p>
          <a:p xmlns:a="http://schemas.openxmlformats.org/drawingml/2006/main">
            <a:r>
              <a:t>- /Users/yanjunjie/Documents/Alpaca/src/volagent/quant/risk_gate.py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/Users/yanjunjie/Documents/Alpaca/data/evaluation/economic_evidence_receipt.json</a:t>
            </a:r>
          </a:p>
          <a:p xmlns:a="http://schemas.openxmlformats.org/drawingml/2006/main">
            <a:r>
              <a:t>- /Users/yanjunjie/Documents/Alpaca/data/evaluation/oos_evaluation_results.json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/Users/yanjunjie/Documents/Alpaca/docs/JUDGE_LIVE_DEMO_SCRIPT.md</a:t>
            </a:r>
          </a:p>
          <a:p xmlns:a="http://schemas.openxmlformats.org/drawingml/2006/main">
            <a:r>
              <a:t>- /Users/yanjunjie/Documents/Alpaca/docs/ONE_PAGE_WRITEUP.md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20601231d4d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2219e9b33d486a" /><Relationship Type="http://schemas.openxmlformats.org/officeDocument/2006/relationships/slideLayout" Target="/ppt/slideLayouts/slideLayout1.xml" Id="R002c9fe80bcd4e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2c9fe80bcd4e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fe1f37c3249ba" /><Relationship Type="http://schemas.openxmlformats.org/officeDocument/2006/relationships/notesSlide" Target="/ppt/notesSlides/notesSlide1.xml" Id="R71c5b7f2421849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c2122268f42c0" /><Relationship Type="http://schemas.openxmlformats.org/officeDocument/2006/relationships/notesSlide" Target="/ppt/notesSlides/notesSlide2.xml" Id="R3f2fb62c57f946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489782d8b4f0b" /><Relationship Type="http://schemas.openxmlformats.org/officeDocument/2006/relationships/notesSlide" Target="/ppt/notesSlides/notesSlide3.xml" Id="R0767f03918e844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97aed6fe3448d" /><Relationship Type="http://schemas.openxmlformats.org/officeDocument/2006/relationships/image" Target="/ppt/media/image.png" Id="R67086af936024877" /><Relationship Type="http://schemas.openxmlformats.org/officeDocument/2006/relationships/notesSlide" Target="/ppt/notesSlides/notesSlide4.xml" Id="Rb7f4b38f391247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8c65d78564d1f" /><Relationship Type="http://schemas.openxmlformats.org/officeDocument/2006/relationships/notesSlide" Target="/ppt/notesSlides/notesSlide5.xml" Id="Rc38bcf7e760b47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30b2205664960" /><Relationship Type="http://schemas.openxmlformats.org/officeDocument/2006/relationships/image" Target="/ppt/media/image2.png" Id="R4faa099fbe424096" /><Relationship Type="http://schemas.openxmlformats.org/officeDocument/2006/relationships/notesSlide" Target="/ppt/notesSlides/notesSlide6.xml" Id="R737c42e8c2e947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2fc407bfc42fa" /><Relationship Type="http://schemas.openxmlformats.org/officeDocument/2006/relationships/notesSlide" Target="/ppt/notesSlides/notesSlide7.xml" Id="R337edce712d241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ld-rail">
            <a:extLst xmlns:a="http://schemas.openxmlformats.org/drawingml/2006/main">
              <a:ext uri="{FF2B5EF4-FFF2-40B4-BE49-F238E27FC236}">
                <a16:creationId xmlns:a16="http://schemas.microsoft.com/office/drawing/2014/main" id="{8E36DAC0-55FF-47BD-990C-BC8D659F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DBE031A-520A-42F3-B1BE-F22745F2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000"/>
                </a:solidFill>
              </a:defRPr>
            </a:pPr>
            <a:r>
              <a:rPr sz="1125" b="1">
                <a:solidFill>
                  <a:srgbClr val="FFD000"/>
                </a:solidFill>
              </a:rPr>
              <a:t>ALPACA OPTIONS ALPHA · $100,000 PAPER MANDATE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FB8B5F39-6413-448D-BC9A-9F677047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666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CaiSheng</a:t>
            </a:r>
          </a:p>
        </p:txBody>
      </p:sp>
      <p:sp>
        <p:nvSpPr>
          <p:cNvPr id="4" name="hanzi">
            <a:extLst xmlns:a="http://schemas.openxmlformats.org/drawingml/2006/main">
              <a:ext uri="{FF2B5EF4-FFF2-40B4-BE49-F238E27FC236}">
                <a16:creationId xmlns:a16="http://schemas.microsoft.com/office/drawing/2014/main" id="{676D614A-BC0C-4E55-B7C7-C6CDC393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240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D000"/>
                </a:solidFill>
              </a:defRPr>
            </a:pPr>
            <a:r>
              <a:rPr sz="3600" b="1">
                <a:solidFill>
                  <a:srgbClr val="FFD000"/>
                </a:solidFill>
              </a:rPr>
              <a:t>财神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61740323-0996-4A72-89BC-B6EC87ED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800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9DA7B3"/>
                </a:solidFill>
              </a:defRPr>
            </a:pPr>
            <a:r>
              <a:rPr sz="2250" b="0">
                <a:solidFill>
                  <a:srgbClr val="9DA7B3"/>
                </a:solidFill>
              </a:rPr>
              <a:t>Autonomous options-volatility allocation</a:t>
            </a:r>
          </a:p>
          <a:p xmlns:a="http://schemas.openxmlformats.org/drawingml/2006/main">
            <a:pPr algn="l">
              <a:defRPr sz="2250" b="0">
                <a:solidFill>
                  <a:srgbClr val="9DA7B3"/>
                </a:solidFill>
              </a:defRPr>
            </a:pPr>
            <a:r>
              <a:rPr sz="2250" b="0">
                <a:solidFill>
                  <a:srgbClr val="9DA7B3"/>
                </a:solidFill>
              </a:rPr>
              <a:t>with audited Alpaca paper execution</a:t>
            </a:r>
          </a:p>
        </p:txBody>
      </p:sp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FB98FE1-D9C3-4CD3-A4F9-693F96E7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proof">
            <a:extLst xmlns:a="http://schemas.openxmlformats.org/drawingml/2006/main">
              <a:ext uri="{FF2B5EF4-FFF2-40B4-BE49-F238E27FC236}">
                <a16:creationId xmlns:a16="http://schemas.microsoft.com/office/drawing/2014/main" id="{5B4D0A40-FB0B-4DB8-A47F-F84E84CC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E5FF"/>
                </a:solidFill>
              </a:defRPr>
            </a:pPr>
            <a:r>
              <a:rPr sz="1350" b="1">
                <a:solidFill>
                  <a:srgbClr val="00E5FF"/>
                </a:solidFill>
              </a:rPr>
              <a:t>LANGGRAPH DEBATE  →  DETERMINISTIC RISK  →  LEVEL-3 MLEG  →  BROKER RECEIPT</a:t>
            </a:r>
          </a:p>
        </p:txBody>
      </p:sp>
      <p:sp>
        <p:nvSpPr>
          <p:cNvPr id="8" name="cover-boundary">
            <a:extLst xmlns:a="http://schemas.openxmlformats.org/drawingml/2006/main">
              <a:ext uri="{FF2B5EF4-FFF2-40B4-BE49-F238E27FC236}">
                <a16:creationId xmlns:a16="http://schemas.microsoft.com/office/drawing/2014/main" id="{AFFD0EF3-B4CB-431F-AFB8-B5C62BEE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Paper only · Replay is never presented as competition P&amp;L</a:t>
            </a:r>
          </a:p>
        </p:txBody>
      </p:sp>
    </p:spTree>
    <p:extLst>
      <p:ext uri="{BB962C8B-B14F-4D97-AF65-F5344CB8AC3E}">
        <p14:creationId xmlns:p14="http://schemas.microsoft.com/office/powerpoint/2010/main" val="17492712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2">
            <a:extLst xmlns:a="http://schemas.openxmlformats.org/drawingml/2006/main">
              <a:ext uri="{FF2B5EF4-FFF2-40B4-BE49-F238E27FC236}">
                <a16:creationId xmlns:a16="http://schemas.microsoft.com/office/drawing/2014/main" id="{F83EB981-CBB7-46E1-8BE5-D7DB2D7A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000"/>
                </a:solidFill>
              </a:defRPr>
            </a:pPr>
            <a:r>
              <a:rPr sz="975" b="1">
                <a:solidFill>
                  <a:srgbClr val="FFD000"/>
                </a:solidFill>
              </a:rPr>
              <a:t>STRATEGY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5058999-930A-4704-B019-9854CA5A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The agent trades volatility mispricing—not direction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DE1791A4-4C53-4085-A5D6-251A80BF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46040FCD-1363-4641-8093-44855A69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785"/>
                </a:solidFill>
              </a:defRPr>
            </a:pPr>
            <a:r>
              <a:rPr sz="975" b="1">
                <a:solidFill>
                  <a:srgbClr val="6B7785"/>
                </a:solidFill>
              </a:rPr>
              <a:t>02</a:t>
            </a:r>
          </a:p>
        </p:txBody>
      </p:sp>
      <p:sp>
        <p:nvSpPr>
          <p:cNvPr id="5" name="strategy-question">
            <a:extLst xmlns:a="http://schemas.openxmlformats.org/drawingml/2006/main">
              <a:ext uri="{FF2B5EF4-FFF2-40B4-BE49-F238E27FC236}">
                <a16:creationId xmlns:a16="http://schemas.microsoft.com/office/drawing/2014/main" id="{063F6169-7240-4483-9C6F-2284B510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055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Will realized movement exceed or undershoot the move priced by executable option quotes?</a:t>
            </a:r>
          </a:p>
        </p:txBody>
      </p:sp>
      <p:sp>
        <p:nvSpPr>
          <p:cNvPr id="6" name="strategy-equation">
            <a:extLst xmlns:a="http://schemas.openxmlformats.org/drawingml/2006/main">
              <a:ext uri="{FF2B5EF4-FFF2-40B4-BE49-F238E27FC236}">
                <a16:creationId xmlns:a16="http://schemas.microsoft.com/office/drawing/2014/main" id="{496FE985-BF91-4305-A02B-48FC704C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043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E5FF"/>
                </a:solidFill>
              </a:defRPr>
            </a:pPr>
            <a:r>
              <a:rPr sz="1650" b="1">
                <a:solidFill>
                  <a:srgbClr val="00E5FF"/>
                </a:solidFill>
              </a:rPr>
              <a:t>forecast edge  =  expected |return|  −  executable straddle-implied move  −  costs</a:t>
            </a:r>
          </a:p>
        </p:txBody>
      </p:sp>
      <p:sp>
        <p:nvSpPr>
          <p:cNvPr id="7" name="strategy-rail-0">
            <a:extLst xmlns:a="http://schemas.openxmlformats.org/drawingml/2006/main">
              <a:ext uri="{FF2B5EF4-FFF2-40B4-BE49-F238E27FC236}">
                <a16:creationId xmlns:a16="http://schemas.microsoft.com/office/drawing/2014/main" id="{B04AD917-5CE2-4B61-BFB5-8FD4EEC2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ategy-label-0">
            <a:extLst xmlns:a="http://schemas.openxmlformats.org/drawingml/2006/main">
              <a:ext uri="{FF2B5EF4-FFF2-40B4-BE49-F238E27FC236}">
                <a16:creationId xmlns:a16="http://schemas.microsoft.com/office/drawing/2014/main" id="{0A29010D-86D1-4EDB-88E6-2F09C509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C805"/>
                </a:solidFill>
              </a:defRPr>
            </a:pPr>
            <a:r>
              <a:rPr sz="1200" b="1">
                <a:solidFill>
                  <a:srgbClr val="00C805"/>
                </a:solidFill>
              </a:rPr>
              <a:t>LONG STRADDLE</a:t>
            </a:r>
          </a:p>
        </p:txBody>
      </p:sp>
      <p:sp>
        <p:nvSpPr>
          <p:cNvPr id="9" name="strategy-body-0">
            <a:extLst xmlns:a="http://schemas.openxmlformats.org/drawingml/2006/main">
              <a:ext uri="{FF2B5EF4-FFF2-40B4-BE49-F238E27FC236}">
                <a16:creationId xmlns:a16="http://schemas.microsoft.com/office/drawing/2014/main" id="{CB68241B-5CD7-4160-87F5-66E2FD0E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3105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A7B3"/>
                </a:solidFill>
              </a:defRPr>
            </a:pPr>
            <a:r>
              <a:rPr sz="1425" b="0">
                <a:solidFill>
                  <a:srgbClr val="9DA7B3"/>
                </a:solidFill>
              </a:rPr>
              <a:t>Buy movement when the lower confidence bound survives spread, fees, and slippage.</a:t>
            </a:r>
          </a:p>
        </p:txBody>
      </p:sp>
      <p:sp>
        <p:nvSpPr>
          <p:cNvPr id="10" name="strategy-rail-1">
            <a:extLst xmlns:a="http://schemas.openxmlformats.org/drawingml/2006/main">
              <a:ext uri="{FF2B5EF4-FFF2-40B4-BE49-F238E27FC236}">
                <a16:creationId xmlns:a16="http://schemas.microsoft.com/office/drawing/2014/main" id="{8BABDDC4-FAE7-49AA-A71B-8795AA04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rategy-label-1">
            <a:extLst xmlns:a="http://schemas.openxmlformats.org/drawingml/2006/main">
              <a:ext uri="{FF2B5EF4-FFF2-40B4-BE49-F238E27FC236}">
                <a16:creationId xmlns:a16="http://schemas.microsoft.com/office/drawing/2014/main" id="{DB381F3D-9F71-4FD4-A566-2AA18FFE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290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5F7"/>
                </a:solidFill>
              </a:defRPr>
            </a:pPr>
            <a:r>
              <a:rPr sz="1200" b="1">
                <a:solidFill>
                  <a:srgbClr val="A855F7"/>
                </a:solidFill>
              </a:rPr>
              <a:t>SHORT IRON BUTTERFLY</a:t>
            </a:r>
          </a:p>
        </p:txBody>
      </p:sp>
      <p:sp>
        <p:nvSpPr>
          <p:cNvPr id="12" name="strategy-body-1">
            <a:extLst xmlns:a="http://schemas.openxmlformats.org/drawingml/2006/main">
              <a:ext uri="{FF2B5EF4-FFF2-40B4-BE49-F238E27FC236}">
                <a16:creationId xmlns:a16="http://schemas.microsoft.com/office/drawing/2014/main" id="{3130483E-1F6C-4936-89F4-2C36DB77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86250"/>
            <a:ext cx="3105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A7B3"/>
                </a:solidFill>
              </a:defRPr>
            </a:pPr>
            <a:r>
              <a:rPr sz="1425" b="0">
                <a:solidFill>
                  <a:srgbClr val="9DA7B3"/>
                </a:solidFill>
              </a:rPr>
              <a:t>Sell overpriced movement only with defined wings and a verified maximum loss.</a:t>
            </a:r>
          </a:p>
        </p:txBody>
      </p:sp>
      <p:sp>
        <p:nvSpPr>
          <p:cNvPr id="13" name="strategy-rail-2">
            <a:extLst xmlns:a="http://schemas.openxmlformats.org/drawingml/2006/main">
              <a:ext uri="{FF2B5EF4-FFF2-40B4-BE49-F238E27FC236}">
                <a16:creationId xmlns:a16="http://schemas.microsoft.com/office/drawing/2014/main" id="{D0C347E5-E431-4C38-B769-F9F60995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909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rategy-label-2">
            <a:extLst xmlns:a="http://schemas.openxmlformats.org/drawingml/2006/main">
              <a:ext uri="{FF2B5EF4-FFF2-40B4-BE49-F238E27FC236}">
                <a16:creationId xmlns:a16="http://schemas.microsoft.com/office/drawing/2014/main" id="{96BA7E42-F44D-45E7-BB5C-13D970FB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290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D000"/>
                </a:solidFill>
              </a:defRPr>
            </a:pPr>
            <a:r>
              <a:rPr sz="1200" b="1">
                <a:solidFill>
                  <a:srgbClr val="FFD000"/>
                </a:solidFill>
              </a:rPr>
              <a:t>NO TRADE</a:t>
            </a:r>
          </a:p>
        </p:txBody>
      </p:sp>
      <p:sp>
        <p:nvSpPr>
          <p:cNvPr id="15" name="strategy-body-2">
            <a:extLst xmlns:a="http://schemas.openxmlformats.org/drawingml/2006/main">
              <a:ext uri="{FF2B5EF4-FFF2-40B4-BE49-F238E27FC236}">
                <a16:creationId xmlns:a16="http://schemas.microsoft.com/office/drawing/2014/main" id="{BCD167C8-B95E-4B0D-8400-FEE5A351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86250"/>
            <a:ext cx="3105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A7B3"/>
                </a:solidFill>
              </a:defRPr>
            </a:pPr>
            <a:r>
              <a:rPr sz="1425" b="0">
                <a:solidFill>
                  <a:srgbClr val="9DA7B3"/>
                </a:solidFill>
              </a:rPr>
              <a:t>Abstain on stale data, weak edge, poor liquidity, OOD inputs, or any risk veto.</a:t>
            </a:r>
          </a:p>
        </p:txBody>
      </p:sp>
    </p:spTree>
    <p:extLst>
      <p:ext uri="{BB962C8B-B14F-4D97-AF65-F5344CB8AC3E}">
        <p14:creationId xmlns:p14="http://schemas.microsoft.com/office/powerpoint/2010/main" val="986867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3">
            <a:extLst xmlns:a="http://schemas.openxmlformats.org/drawingml/2006/main">
              <a:ext uri="{FF2B5EF4-FFF2-40B4-BE49-F238E27FC236}">
                <a16:creationId xmlns:a16="http://schemas.microsoft.com/office/drawing/2014/main" id="{9DD60AF7-ECD5-4332-8DEC-23CD2BAA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000"/>
                </a:solidFill>
              </a:defRPr>
            </a:pPr>
            <a:r>
              <a:rPr sz="975" b="1">
                <a:solidFill>
                  <a:srgbClr val="FFD000"/>
                </a:solidFill>
              </a:rPr>
              <a:t>CREATIVITY &amp; ORIGINALITY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834836C8-81A7-4F6F-84E4-5CFD3348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Parallel specialists debate; deterministic code owns authority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C48FAF07-E1DA-42D8-A8EE-F2D1B1BE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EDEF015C-CD72-4582-86E2-B37C50D9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785"/>
                </a:solidFill>
              </a:defRPr>
            </a:pPr>
            <a:r>
              <a:rPr sz="975" b="1">
                <a:solidFill>
                  <a:srgbClr val="6B7785"/>
                </a:solidFill>
              </a:rPr>
              <a:t>03</a:t>
            </a:r>
          </a:p>
        </p:txBody>
      </p:sp>
      <p:sp>
        <p:nvSpPr>
          <p:cNvPr id="5" name="connector-0">
            <a:extLst xmlns:a="http://schemas.openxmlformats.org/drawingml/2006/main">
              <a:ext uri="{FF2B5EF4-FFF2-40B4-BE49-F238E27FC236}">
                <a16:creationId xmlns:a16="http://schemas.microsoft.com/office/drawing/2014/main" id="{3FFDFE88-FB07-42DB-9190-4FD58E33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289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F96A206C-37F8-4078-A1E1-B0028F22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289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nnector-2">
            <a:extLst xmlns:a="http://schemas.openxmlformats.org/drawingml/2006/main">
              <a:ext uri="{FF2B5EF4-FFF2-40B4-BE49-F238E27FC236}">
                <a16:creationId xmlns:a16="http://schemas.microsoft.com/office/drawing/2014/main" id="{EAB71A09-5AD8-4C35-BD35-E5C2CC9C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nector-3">
            <a:extLst xmlns:a="http://schemas.openxmlformats.org/drawingml/2006/main">
              <a:ext uri="{FF2B5EF4-FFF2-40B4-BE49-F238E27FC236}">
                <a16:creationId xmlns:a16="http://schemas.microsoft.com/office/drawing/2014/main" id="{74E3CA92-73CB-42F4-9E53-98916751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289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nector-4">
            <a:extLst xmlns:a="http://schemas.openxmlformats.org/drawingml/2006/main">
              <a:ext uri="{FF2B5EF4-FFF2-40B4-BE49-F238E27FC236}">
                <a16:creationId xmlns:a16="http://schemas.microsoft.com/office/drawing/2014/main" id="{1C24CF3B-18BA-4D3B-B907-DCB8FA0F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289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de-0">
            <a:extLst xmlns:a="http://schemas.openxmlformats.org/drawingml/2006/main">
              <a:ext uri="{FF2B5EF4-FFF2-40B4-BE49-F238E27FC236}">
                <a16:creationId xmlns:a16="http://schemas.microsoft.com/office/drawing/2014/main" id="{AF67CD7E-B191-45E2-924B-D327395F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3525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1C27"/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11" name="node-label-0">
            <a:extLst xmlns:a="http://schemas.openxmlformats.org/drawingml/2006/main">
              <a:ext uri="{FF2B5EF4-FFF2-40B4-BE49-F238E27FC236}">
                <a16:creationId xmlns:a16="http://schemas.microsoft.com/office/drawing/2014/main" id="{EBB7F626-32B8-4196-A876-21A26DBB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1162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E5FF"/>
                </a:solidFill>
              </a:defRPr>
            </a:pPr>
            <a:r>
              <a:rPr sz="1125" b="1">
                <a:solidFill>
                  <a:srgbClr val="00E5FF"/>
                </a:solidFill>
              </a:rPr>
              <a:t>LOCKED MARKET</a:t>
            </a:r>
          </a:p>
          <a:p xmlns:a="http://schemas.openxmlformats.org/drawingml/2006/main">
            <a:pPr algn="ctr">
              <a:defRPr sz="1125" b="1">
                <a:solidFill>
                  <a:srgbClr val="00E5FF"/>
                </a:solidFill>
              </a:defRPr>
            </a:pPr>
            <a:r>
              <a:rPr sz="1125" b="1">
                <a:solidFill>
                  <a:srgbClr val="00E5FF"/>
                </a:solidFill>
              </a:rPr>
              <a:t>SNAPSHOT</a:t>
            </a:r>
          </a:p>
        </p:txBody>
      </p:sp>
      <p:sp>
        <p:nvSpPr>
          <p:cNvPr id="12" name="node-1">
            <a:extLst xmlns:a="http://schemas.openxmlformats.org/drawingml/2006/main">
              <a:ext uri="{FF2B5EF4-FFF2-40B4-BE49-F238E27FC236}">
                <a16:creationId xmlns:a16="http://schemas.microsoft.com/office/drawing/2014/main" id="{1680FB60-B065-4347-83BD-924ACA9E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76500"/>
            <a:ext cx="13525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1C27"/>
          </a:solidFill>
          <a:ln xmlns:a="http://schemas.openxmlformats.org/drawingml/2006/main" w="9525">
            <a:solidFill>
              <a:srgbClr val="A855F7"/>
            </a:solidFill>
            <a:prstDash val="solid"/>
          </a:ln>
        </p:spPr>
      </p:sp>
      <p:sp>
        <p:nvSpPr>
          <p:cNvPr id="13" name="node-label-1">
            <a:extLst xmlns:a="http://schemas.openxmlformats.org/drawingml/2006/main">
              <a:ext uri="{FF2B5EF4-FFF2-40B4-BE49-F238E27FC236}">
                <a16:creationId xmlns:a16="http://schemas.microsoft.com/office/drawing/2014/main" id="{846D0698-3EFB-4190-81BA-63E0AD77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1162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855F7"/>
                </a:solidFill>
              </a:defRPr>
            </a:pPr>
            <a:r>
              <a:rPr sz="1125" b="1">
                <a:solidFill>
                  <a:srgbClr val="A855F7"/>
                </a:solidFill>
              </a:rPr>
              <a:t>EVENT + VOL</a:t>
            </a:r>
          </a:p>
          <a:p xmlns:a="http://schemas.openxmlformats.org/drawingml/2006/main">
            <a:pPr algn="ctr">
              <a:defRPr sz="1125" b="1">
                <a:solidFill>
                  <a:srgbClr val="A855F7"/>
                </a:solidFill>
              </a:defRPr>
            </a:pPr>
            <a:r>
              <a:rPr sz="1125" b="1">
                <a:solidFill>
                  <a:srgbClr val="A855F7"/>
                </a:solidFill>
              </a:rPr>
              <a:t>SPECIALISTS</a:t>
            </a:r>
          </a:p>
        </p:txBody>
      </p:sp>
      <p:sp>
        <p:nvSpPr>
          <p:cNvPr id="14" name="node-2">
            <a:extLst xmlns:a="http://schemas.openxmlformats.org/drawingml/2006/main">
              <a:ext uri="{FF2B5EF4-FFF2-40B4-BE49-F238E27FC236}">
                <a16:creationId xmlns:a16="http://schemas.microsoft.com/office/drawing/2014/main" id="{ABC6893E-5257-4243-9E6D-F76D2B4D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13525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1C27"/>
          </a:solidFill>
          <a:ln xmlns:a="http://schemas.openxmlformats.org/drawingml/2006/main" w="9525">
            <a:solidFill>
              <a:srgbClr val="FFD000"/>
            </a:solidFill>
            <a:prstDash val="solid"/>
          </a:ln>
        </p:spPr>
      </p:sp>
      <p:sp>
        <p:nvSpPr>
          <p:cNvPr id="15" name="node-label-2">
            <a:extLst xmlns:a="http://schemas.openxmlformats.org/drawingml/2006/main">
              <a:ext uri="{FF2B5EF4-FFF2-40B4-BE49-F238E27FC236}">
                <a16:creationId xmlns:a16="http://schemas.microsoft.com/office/drawing/2014/main" id="{B9BBB056-AF3A-4FDA-9D26-6C2A780A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1162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D000"/>
                </a:solidFill>
              </a:defRPr>
            </a:pPr>
            <a:r>
              <a:rPr sz="1125" b="1">
                <a:solidFill>
                  <a:srgbClr val="FFD000"/>
                </a:solidFill>
              </a:rPr>
              <a:t>LONG vs SHORT</a:t>
            </a:r>
          </a:p>
          <a:p xmlns:a="http://schemas.openxmlformats.org/drawingml/2006/main">
            <a:pPr algn="ctr">
              <a:defRPr sz="1125" b="1">
                <a:solidFill>
                  <a:srgbClr val="FFD000"/>
                </a:solidFill>
              </a:defRPr>
            </a:pPr>
            <a:r>
              <a:rPr sz="1125" b="1">
                <a:solidFill>
                  <a:srgbClr val="FFD000"/>
                </a:solidFill>
              </a:rPr>
              <a:t>ADVOCATES</a:t>
            </a:r>
          </a:p>
        </p:txBody>
      </p:sp>
      <p:sp>
        <p:nvSpPr>
          <p:cNvPr id="16" name="node-3">
            <a:extLst xmlns:a="http://schemas.openxmlformats.org/drawingml/2006/main">
              <a:ext uri="{FF2B5EF4-FFF2-40B4-BE49-F238E27FC236}">
                <a16:creationId xmlns:a16="http://schemas.microsoft.com/office/drawing/2014/main" id="{324DDFBE-11C7-4936-95AD-FDEE4CFA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13525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1C27"/>
          </a:solidFill>
          <a:ln xmlns:a="http://schemas.openxmlformats.org/drawingml/2006/main" w="9525">
            <a:solidFill>
              <a:srgbClr val="FF3366"/>
            </a:solidFill>
            <a:prstDash val="solid"/>
          </a:ln>
        </p:spPr>
      </p:sp>
      <p:sp>
        <p:nvSpPr>
          <p:cNvPr id="17" name="node-label-3">
            <a:extLst xmlns:a="http://schemas.openxmlformats.org/drawingml/2006/main">
              <a:ext uri="{FF2B5EF4-FFF2-40B4-BE49-F238E27FC236}">
                <a16:creationId xmlns:a16="http://schemas.microsoft.com/office/drawing/2014/main" id="{76C7A972-BF47-4C21-8F7A-2784F477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1162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3366"/>
                </a:solidFill>
              </a:defRPr>
            </a:pPr>
            <a:r>
              <a:rPr sz="1125" b="1">
                <a:solidFill>
                  <a:srgbClr val="FF3366"/>
                </a:solidFill>
              </a:rPr>
              <a:t>MODEL-RISK</a:t>
            </a:r>
          </a:p>
          <a:p xmlns:a="http://schemas.openxmlformats.org/drawingml/2006/main">
            <a:pPr algn="ctr">
              <a:defRPr sz="1125" b="1">
                <a:solidFill>
                  <a:srgbClr val="FF3366"/>
                </a:solidFill>
              </a:defRPr>
            </a:pPr>
            <a:r>
              <a:rPr sz="1125" b="1">
                <a:solidFill>
                  <a:srgbClr val="FF3366"/>
                </a:solidFill>
              </a:rPr>
              <a:t>CRITIC</a:t>
            </a:r>
          </a:p>
        </p:txBody>
      </p:sp>
      <p:sp>
        <p:nvSpPr>
          <p:cNvPr id="18" name="node-4">
            <a:extLst xmlns:a="http://schemas.openxmlformats.org/drawingml/2006/main">
              <a:ext uri="{FF2B5EF4-FFF2-40B4-BE49-F238E27FC236}">
                <a16:creationId xmlns:a16="http://schemas.microsoft.com/office/drawing/2014/main" id="{9FBCB728-EB7C-4918-A336-F8384D3E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76500"/>
            <a:ext cx="13525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1C27"/>
          </a:solidFill>
          <a:ln xmlns:a="http://schemas.openxmlformats.org/drawingml/2006/main" w="9525">
            <a:solidFill>
              <a:srgbClr val="00C805"/>
            </a:solidFill>
            <a:prstDash val="solid"/>
          </a:ln>
        </p:spPr>
      </p:sp>
      <p:sp>
        <p:nvSpPr>
          <p:cNvPr id="19" name="node-label-4">
            <a:extLst xmlns:a="http://schemas.openxmlformats.org/drawingml/2006/main">
              <a:ext uri="{FF2B5EF4-FFF2-40B4-BE49-F238E27FC236}">
                <a16:creationId xmlns:a16="http://schemas.microsoft.com/office/drawing/2014/main" id="{BDD8A650-361C-41AF-804F-F22E90DE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47950"/>
            <a:ext cx="1162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C805"/>
                </a:solidFill>
              </a:defRPr>
            </a:pPr>
            <a:r>
              <a:rPr sz="1125" b="1">
                <a:solidFill>
                  <a:srgbClr val="00C805"/>
                </a:solidFill>
              </a:rPr>
              <a:t>20-POINT</a:t>
            </a:r>
          </a:p>
          <a:p xmlns:a="http://schemas.openxmlformats.org/drawingml/2006/main">
            <a:pPr algn="ctr">
              <a:defRPr sz="1125" b="1">
                <a:solidFill>
                  <a:srgbClr val="00C805"/>
                </a:solidFill>
              </a:defRPr>
            </a:pPr>
            <a:r>
              <a:rPr sz="1125" b="1">
                <a:solidFill>
                  <a:srgbClr val="00C805"/>
                </a:solidFill>
              </a:rPr>
              <a:t>RISK GATE</a:t>
            </a:r>
          </a:p>
        </p:txBody>
      </p:sp>
      <p:sp>
        <p:nvSpPr>
          <p:cNvPr id="20" name="node-5">
            <a:extLst xmlns:a="http://schemas.openxmlformats.org/drawingml/2006/main">
              <a:ext uri="{FF2B5EF4-FFF2-40B4-BE49-F238E27FC236}">
                <a16:creationId xmlns:a16="http://schemas.microsoft.com/office/drawing/2014/main" id="{3E4E3A38-C4E5-4928-8980-B191C387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76500"/>
            <a:ext cx="13525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1C27"/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21" name="node-label-5">
            <a:extLst xmlns:a="http://schemas.openxmlformats.org/drawingml/2006/main">
              <a:ext uri="{FF2B5EF4-FFF2-40B4-BE49-F238E27FC236}">
                <a16:creationId xmlns:a16="http://schemas.microsoft.com/office/drawing/2014/main" id="{2B7AA7B2-0CD3-4243-898E-028C17E2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47950"/>
            <a:ext cx="1162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E5FF"/>
                </a:solidFill>
              </a:defRPr>
            </a:pPr>
            <a:r>
              <a:rPr sz="1125" b="1">
                <a:solidFill>
                  <a:srgbClr val="00E5FF"/>
                </a:solidFill>
              </a:rPr>
              <a:t>ALPACA</a:t>
            </a:r>
          </a:p>
          <a:p xmlns:a="http://schemas.openxmlformats.org/drawingml/2006/main">
            <a:pPr algn="ctr">
              <a:defRPr sz="1125" b="1">
                <a:solidFill>
                  <a:srgbClr val="00E5FF"/>
                </a:solidFill>
              </a:defRPr>
            </a:pPr>
            <a:r>
              <a:rPr sz="1125" b="1">
                <a:solidFill>
                  <a:srgbClr val="00E5FF"/>
                </a:solidFill>
              </a:rPr>
              <a:t>EXECUTION</a:t>
            </a:r>
          </a:p>
        </p:txBody>
      </p:sp>
      <p:sp>
        <p:nvSpPr>
          <p:cNvPr id="22" name="arch-rule">
            <a:extLst xmlns:a="http://schemas.openxmlformats.org/drawingml/2006/main">
              <a:ext uri="{FF2B5EF4-FFF2-40B4-BE49-F238E27FC236}">
                <a16:creationId xmlns:a16="http://schemas.microsoft.com/office/drawing/2014/main" id="{7BAE64FC-28AA-4884-A3B7-516FF2C2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998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Language-model participation is recorded per role. Pricing, EV, sizing, risk, execution, monitoring, and reconciliation remain deterministic.</a:t>
            </a:r>
          </a:p>
        </p:txBody>
      </p:sp>
      <p:sp>
        <p:nvSpPr>
          <p:cNvPr id="23" name="arch-article">
            <a:extLst xmlns:a="http://schemas.openxmlformats.org/drawingml/2006/main">
              <a:ext uri="{FF2B5EF4-FFF2-40B4-BE49-F238E27FC236}">
                <a16:creationId xmlns:a16="http://schemas.microsoft.com/office/drawing/2014/main" id="{F66672A2-EAA9-4CDF-827A-E7532094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91150"/>
            <a:ext cx="975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DA7B3"/>
                </a:solidFill>
              </a:defRPr>
            </a:pPr>
            <a:r>
              <a:rPr sz="1350" b="0">
                <a:solidFill>
                  <a:srgbClr val="9DA7B3"/>
                </a:solidFill>
              </a:rPr>
              <a:t>The Alpaca article inspired specialist isolation and a critic layer; CaiSheng adds options-native math, durable intents, and a non-bypassable risk boundary.</a:t>
            </a:r>
          </a:p>
        </p:txBody>
      </p:sp>
    </p:spTree>
    <p:extLst>
      <p:ext uri="{BB962C8B-B14F-4D97-AF65-F5344CB8AC3E}">
        <p14:creationId xmlns:p14="http://schemas.microsoft.com/office/powerpoint/2010/main" val="20610714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4">
            <a:extLst xmlns:a="http://schemas.openxmlformats.org/drawingml/2006/main">
              <a:ext uri="{FF2B5EF4-FFF2-40B4-BE49-F238E27FC236}">
                <a16:creationId xmlns:a16="http://schemas.microsoft.com/office/drawing/2014/main" id="{70E6454E-43EB-475F-8331-2D2CC4A2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000"/>
                </a:solidFill>
              </a:defRPr>
            </a:pPr>
            <a:r>
              <a:rPr sz="975" b="1">
                <a:solidFill>
                  <a:srgbClr val="FFD000"/>
                </a:solidFill>
              </a:rPr>
              <a:t>TECHNOLOGY IMPLEMENTATION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75C2B91-9FA0-467E-9334-BB7EE4FA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Alpaca is the operating system—not a logo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CA5C4790-96A6-4E00-BF6B-507EA2DF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8DE3DA5E-3BC6-4C9D-9DFD-4D519969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785"/>
                </a:solidFill>
              </a:defRPr>
            </a:pPr>
            <a:r>
              <a:rPr sz="975" b="1">
                <a:solidFill>
                  <a:srgbClr val="6B7785"/>
                </a:solidFill>
              </a:rPr>
              <a:t>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86af936024877"/>
          <a:srcRect xmlns:a="http://schemas.openxmlformats.org/drawingml/2006/main" l="2907" t="0" r="29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90700"/>
            <a:ext cx="6858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proof-head-0">
            <a:extLst xmlns:a="http://schemas.openxmlformats.org/drawingml/2006/main">
              <a:ext uri="{FF2B5EF4-FFF2-40B4-BE49-F238E27FC236}">
                <a16:creationId xmlns:a16="http://schemas.microsoft.com/office/drawing/2014/main" id="{9503AD9E-DCDA-4F62-B712-F8AEDB9F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288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000"/>
                </a:solidFill>
              </a:defRPr>
            </a:pPr>
            <a:r>
              <a:rPr sz="1275" b="1">
                <a:solidFill>
                  <a:srgbClr val="FFD000"/>
                </a:solidFill>
              </a:rPr>
              <a:t>TRADING API</a:t>
            </a:r>
          </a:p>
        </p:txBody>
      </p:sp>
      <p:sp>
        <p:nvSpPr>
          <p:cNvPr id="7" name="proof-body-0">
            <a:extLst xmlns:a="http://schemas.openxmlformats.org/drawingml/2006/main">
              <a:ext uri="{FF2B5EF4-FFF2-40B4-BE49-F238E27FC236}">
                <a16:creationId xmlns:a16="http://schemas.microsoft.com/office/drawing/2014/main" id="{74649C6E-FC19-4728-A705-FFF5D4FF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71700"/>
            <a:ext cx="339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A7B3"/>
                </a:solidFill>
              </a:defRPr>
            </a:pPr>
            <a:r>
              <a:rPr sz="1275" b="0">
                <a:solidFill>
                  <a:srgbClr val="9DA7B3"/>
                </a:solidFill>
              </a:rPr>
              <a:t>Fresh account, positions, orders, option chains, Level-3 multi-leg limits, cancellations, and reconciliation.</a:t>
            </a:r>
          </a:p>
        </p:txBody>
      </p:sp>
      <p:sp>
        <p:nvSpPr>
          <p:cNvPr id="8" name="proof-head-1">
            <a:extLst xmlns:a="http://schemas.openxmlformats.org/drawingml/2006/main">
              <a:ext uri="{FF2B5EF4-FFF2-40B4-BE49-F238E27FC236}">
                <a16:creationId xmlns:a16="http://schemas.microsoft.com/office/drawing/2014/main" id="{521B7DC0-AE4B-4B30-9F84-F29CFB0B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8135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E5FF"/>
                </a:solidFill>
              </a:defRPr>
            </a:pPr>
            <a:r>
              <a:rPr sz="1275" b="1">
                <a:solidFill>
                  <a:srgbClr val="00E5FF"/>
                </a:solidFill>
              </a:rPr>
              <a:t>MCP</a:t>
            </a:r>
          </a:p>
        </p:txBody>
      </p:sp>
      <p:sp>
        <p:nvSpPr>
          <p:cNvPr id="9" name="proof-body-1">
            <a:extLst xmlns:a="http://schemas.openxmlformats.org/drawingml/2006/main">
              <a:ext uri="{FF2B5EF4-FFF2-40B4-BE49-F238E27FC236}">
                <a16:creationId xmlns:a16="http://schemas.microsoft.com/office/drawing/2014/main" id="{94CA18DE-42CC-49C8-AFC3-E8DAD438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24250"/>
            <a:ext cx="339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A7B3"/>
                </a:solidFill>
              </a:defRPr>
            </a:pPr>
            <a:r>
              <a:rPr sz="1275" b="0">
                <a:solidFill>
                  <a:srgbClr val="9DA7B3"/>
                </a:solidFill>
              </a:rPr>
              <a:t>Official MCP V2 is dynamically verified read-only; CaiSheng FastMCP writes accept only approved canonical order tokens.</a:t>
            </a:r>
          </a:p>
        </p:txBody>
      </p:sp>
      <p:sp>
        <p:nvSpPr>
          <p:cNvPr id="10" name="proof-head-2">
            <a:extLst xmlns:a="http://schemas.openxmlformats.org/drawingml/2006/main">
              <a:ext uri="{FF2B5EF4-FFF2-40B4-BE49-F238E27FC236}">
                <a16:creationId xmlns:a16="http://schemas.microsoft.com/office/drawing/2014/main" id="{2FC23CA8-B350-4F9C-9D9A-9700FC73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339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55F7"/>
                </a:solidFill>
              </a:defRPr>
            </a:pPr>
            <a:r>
              <a:rPr sz="1275" b="1">
                <a:solidFill>
                  <a:srgbClr val="A855F7"/>
                </a:solidFill>
              </a:rPr>
              <a:t>CLI + SKILLS</a:t>
            </a:r>
          </a:p>
        </p:txBody>
      </p:sp>
      <p:sp>
        <p:nvSpPr>
          <p:cNvPr id="11" name="proof-body-2">
            <a:extLst xmlns:a="http://schemas.openxmlformats.org/drawingml/2006/main">
              <a:ext uri="{FF2B5EF4-FFF2-40B4-BE49-F238E27FC236}">
                <a16:creationId xmlns:a16="http://schemas.microsoft.com/office/drawing/2014/main" id="{E04862B5-3078-4274-B48C-B035D9AB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76800"/>
            <a:ext cx="339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A7B3"/>
                </a:solidFill>
              </a:defRPr>
            </a:pPr>
            <a:r>
              <a:rPr sz="1275" b="0">
                <a:solidFill>
                  <a:srgbClr val="9DA7B3"/>
                </a:solidFill>
              </a:rPr>
              <a:t>Official CLI doctor/account/clock checks plus four fingerprinted Alpaca skills create sanitized proof receipts.</a:t>
            </a:r>
          </a:p>
        </p:txBody>
      </p:sp>
    </p:spTree>
    <p:extLst>
      <p:ext uri="{BB962C8B-B14F-4D97-AF65-F5344CB8AC3E}">
        <p14:creationId xmlns:p14="http://schemas.microsoft.com/office/powerpoint/2010/main" val="19672123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5">
            <a:extLst xmlns:a="http://schemas.openxmlformats.org/drawingml/2006/main">
              <a:ext uri="{FF2B5EF4-FFF2-40B4-BE49-F238E27FC236}">
                <a16:creationId xmlns:a16="http://schemas.microsoft.com/office/drawing/2014/main" id="{9BEF3402-42BD-4D82-8624-6D7A7EDB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000"/>
                </a:solidFill>
              </a:defRPr>
            </a:pPr>
            <a:r>
              <a:rPr sz="975" b="1">
                <a:solidFill>
                  <a:srgbClr val="FFD000"/>
                </a:solidFill>
              </a:rPr>
              <a:t>P&amp;L GOVERNANCE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941E23CB-BF49-4E41-99E0-B12E4B1C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The risk envelope decides whether the agent may trade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2B3F32A4-BF44-41EA-80CE-B61F9931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8306DD07-B96B-46C1-9F06-624AAF20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785"/>
                </a:solidFill>
              </a:defRPr>
            </a:pPr>
            <a:r>
              <a:rPr sz="975" b="1">
                <a:solidFill>
                  <a:srgbClr val="6B7785"/>
                </a:solidFill>
              </a:rPr>
              <a:t>05</a:t>
            </a:r>
          </a:p>
        </p:txBody>
      </p:sp>
      <p:sp>
        <p:nvSpPr>
          <p:cNvPr id="5" name="risk-hero">
            <a:extLst xmlns:a="http://schemas.openxmlformats.org/drawingml/2006/main">
              <a:ext uri="{FF2B5EF4-FFF2-40B4-BE49-F238E27FC236}">
                <a16:creationId xmlns:a16="http://schemas.microsoft.com/office/drawing/2014/main" id="{A7AAA9B3-764A-4667-9191-987E5EF9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D000"/>
                </a:solidFill>
              </a:defRPr>
            </a:pPr>
            <a:r>
              <a:rPr sz="5850" b="1">
                <a:solidFill>
                  <a:srgbClr val="FFD000"/>
                </a:solidFill>
              </a:rPr>
              <a:t>0.5%</a:t>
            </a:r>
          </a:p>
        </p:txBody>
      </p:sp>
      <p:sp>
        <p:nvSpPr>
          <p:cNvPr id="6" name="risk-hero-label">
            <a:extLst xmlns:a="http://schemas.openxmlformats.org/drawingml/2006/main">
              <a:ext uri="{FF2B5EF4-FFF2-40B4-BE49-F238E27FC236}">
                <a16:creationId xmlns:a16="http://schemas.microsoft.com/office/drawing/2014/main" id="{FC79F9FD-8EE9-490D-A4DD-D5759079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DA7B3"/>
                </a:solidFill>
              </a:defRPr>
            </a:pPr>
            <a:r>
              <a:rPr sz="1725" b="0">
                <a:solidFill>
                  <a:srgbClr val="9DA7B3"/>
                </a:solidFill>
              </a:rPr>
              <a:t>hard maximum loss per strategy</a:t>
            </a:r>
          </a:p>
          <a:p xmlns:a="http://schemas.openxmlformats.org/drawingml/2006/main">
            <a:pPr algn="l">
              <a:defRPr sz="1725" b="0">
                <a:solidFill>
                  <a:srgbClr val="9DA7B3"/>
                </a:solidFill>
              </a:defRPr>
            </a:pPr>
            <a:r>
              <a:rPr sz="1725" b="0">
                <a:solidFill>
                  <a:srgbClr val="9DA7B3"/>
                </a:solidFill>
              </a:rPr>
              <a:t>$500 on the $100,000 mandate</a:t>
            </a:r>
          </a:p>
        </p:txBody>
      </p:sp>
      <p:sp>
        <p:nvSpPr>
          <p:cNvPr id="7" name="risk-value-0">
            <a:extLst xmlns:a="http://schemas.openxmlformats.org/drawingml/2006/main">
              <a:ext uri="{FF2B5EF4-FFF2-40B4-BE49-F238E27FC236}">
                <a16:creationId xmlns:a16="http://schemas.microsoft.com/office/drawing/2014/main" id="{D8216B76-3BD8-4E36-A6F6-A7FBFB52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097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E5FF"/>
                </a:solidFill>
              </a:defRPr>
            </a:pPr>
            <a:r>
              <a:rPr sz="2100" b="1">
                <a:solidFill>
                  <a:srgbClr val="00E5FF"/>
                </a:solidFill>
              </a:rPr>
              <a:t>$250</a:t>
            </a:r>
          </a:p>
        </p:txBody>
      </p:sp>
      <p:sp>
        <p:nvSpPr>
          <p:cNvPr id="8" name="risk-label-0">
            <a:extLst xmlns:a="http://schemas.openxmlformats.org/drawingml/2006/main">
              <a:ext uri="{FF2B5EF4-FFF2-40B4-BE49-F238E27FC236}">
                <a16:creationId xmlns:a16="http://schemas.microsoft.com/office/drawing/2014/main" id="{6BA20B44-A256-43D3-A1CE-92B1DA32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669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A7B3"/>
                </a:solidFill>
              </a:defRPr>
            </a:pPr>
            <a:r>
              <a:rPr sz="1350" b="0">
                <a:solidFill>
                  <a:srgbClr val="9DA7B3"/>
                </a:solidFill>
              </a:rPr>
              <a:t>target risk per trade</a:t>
            </a:r>
          </a:p>
        </p:txBody>
      </p:sp>
      <p:sp>
        <p:nvSpPr>
          <p:cNvPr id="9" name="risk-value-1">
            <a:extLst xmlns:a="http://schemas.openxmlformats.org/drawingml/2006/main">
              <a:ext uri="{FF2B5EF4-FFF2-40B4-BE49-F238E27FC236}">
                <a16:creationId xmlns:a16="http://schemas.microsoft.com/office/drawing/2014/main" id="{83B574AF-C7A0-4DBB-9F8C-6BD22CBA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E5FF"/>
                </a:solidFill>
              </a:defRPr>
            </a:pPr>
            <a:r>
              <a:rPr sz="2100" b="1">
                <a:solidFill>
                  <a:srgbClr val="00E5FF"/>
                </a:solidFill>
              </a:rPr>
              <a:t>1 / day</a:t>
            </a:r>
          </a:p>
        </p:txBody>
      </p:sp>
      <p:sp>
        <p:nvSpPr>
          <p:cNvPr id="10" name="risk-label-1">
            <a:extLst xmlns:a="http://schemas.openxmlformats.org/drawingml/2006/main">
              <a:ext uri="{FF2B5EF4-FFF2-40B4-BE49-F238E27FC236}">
                <a16:creationId xmlns:a16="http://schemas.microsoft.com/office/drawing/2014/main" id="{0F421572-8A61-4259-8CA4-6C3DBEC3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A7B3"/>
                </a:solidFill>
              </a:defRPr>
            </a:pPr>
            <a:r>
              <a:rPr sz="1350" b="0">
                <a:solidFill>
                  <a:srgbClr val="9DA7B3"/>
                </a:solidFill>
              </a:rPr>
              <a:t>new-entry throttle</a:t>
            </a:r>
          </a:p>
        </p:txBody>
      </p:sp>
      <p:sp>
        <p:nvSpPr>
          <p:cNvPr id="11" name="risk-value-2">
            <a:extLst xmlns:a="http://schemas.openxmlformats.org/drawingml/2006/main">
              <a:ext uri="{FF2B5EF4-FFF2-40B4-BE49-F238E27FC236}">
                <a16:creationId xmlns:a16="http://schemas.microsoft.com/office/drawing/2014/main" id="{75BB6E07-726B-4A8D-97C7-6759894E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337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E5FF"/>
                </a:solidFill>
              </a:defRPr>
            </a:pPr>
            <a:r>
              <a:rPr sz="2100" b="1">
                <a:solidFill>
                  <a:srgbClr val="00E5FF"/>
                </a:solidFill>
              </a:rPr>
              <a:t>2 open</a:t>
            </a:r>
          </a:p>
        </p:txBody>
      </p:sp>
      <p:sp>
        <p:nvSpPr>
          <p:cNvPr id="12" name="risk-label-2">
            <a:extLst xmlns:a="http://schemas.openxmlformats.org/drawingml/2006/main">
              <a:ext uri="{FF2B5EF4-FFF2-40B4-BE49-F238E27FC236}">
                <a16:creationId xmlns:a16="http://schemas.microsoft.com/office/drawing/2014/main" id="{0B86BEF2-5B9C-479C-AF15-0E5E8A12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909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A7B3"/>
                </a:solidFill>
              </a:defRPr>
            </a:pPr>
            <a:r>
              <a:rPr sz="1350" b="0">
                <a:solidFill>
                  <a:srgbClr val="9DA7B3"/>
                </a:solidFill>
              </a:rPr>
              <a:t>maximum strategies</a:t>
            </a:r>
          </a:p>
        </p:txBody>
      </p:sp>
      <p:sp>
        <p:nvSpPr>
          <p:cNvPr id="13" name="risk-value-3">
            <a:extLst xmlns:a="http://schemas.openxmlformats.org/drawingml/2006/main">
              <a:ext uri="{FF2B5EF4-FFF2-40B4-BE49-F238E27FC236}">
                <a16:creationId xmlns:a16="http://schemas.microsoft.com/office/drawing/2014/main" id="{01760068-F36D-4DC5-8910-C3A80B45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337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C805"/>
                </a:solidFill>
              </a:defRPr>
            </a:pPr>
            <a:r>
              <a:rPr sz="2100" b="1">
                <a:solidFill>
                  <a:srgbClr val="00C805"/>
                </a:solidFill>
              </a:rPr>
              <a:t>−$500</a:t>
            </a:r>
          </a:p>
        </p:txBody>
      </p:sp>
      <p:sp>
        <p:nvSpPr>
          <p:cNvPr id="14" name="risk-label-3">
            <a:extLst xmlns:a="http://schemas.openxmlformats.org/drawingml/2006/main">
              <a:ext uri="{FF2B5EF4-FFF2-40B4-BE49-F238E27FC236}">
                <a16:creationId xmlns:a16="http://schemas.microsoft.com/office/drawing/2014/main" id="{7BB3B9CB-D59F-496D-BFF6-D8EDBE75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A7B3"/>
                </a:solidFill>
              </a:defRPr>
            </a:pPr>
            <a:r>
              <a:rPr sz="1350" b="0">
                <a:solidFill>
                  <a:srgbClr val="9DA7B3"/>
                </a:solidFill>
              </a:rPr>
              <a:t>daily-loss halt</a:t>
            </a:r>
          </a:p>
        </p:txBody>
      </p:sp>
      <p:sp>
        <p:nvSpPr>
          <p:cNvPr id="15" name="risk-value-4">
            <a:extLst xmlns:a="http://schemas.openxmlformats.org/drawingml/2006/main">
              <a:ext uri="{FF2B5EF4-FFF2-40B4-BE49-F238E27FC236}">
                <a16:creationId xmlns:a16="http://schemas.microsoft.com/office/drawing/2014/main" id="{4303FE79-70DE-45D8-8890-0C7E84D8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576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C805"/>
                </a:solidFill>
              </a:defRPr>
            </a:pPr>
            <a:r>
              <a:rPr sz="2100" b="1">
                <a:solidFill>
                  <a:srgbClr val="00C805"/>
                </a:solidFill>
              </a:rPr>
              <a:t>1%</a:t>
            </a:r>
          </a:p>
        </p:txBody>
      </p:sp>
      <p:sp>
        <p:nvSpPr>
          <p:cNvPr id="16" name="risk-label-4">
            <a:extLst xmlns:a="http://schemas.openxmlformats.org/drawingml/2006/main">
              <a:ext uri="{FF2B5EF4-FFF2-40B4-BE49-F238E27FC236}">
                <a16:creationId xmlns:a16="http://schemas.microsoft.com/office/drawing/2014/main" id="{2B09AA9C-6DE1-4FB3-9FBB-BB49EC30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148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A7B3"/>
                </a:solidFill>
              </a:defRPr>
            </a:pPr>
            <a:r>
              <a:rPr sz="1350" b="0">
                <a:solidFill>
                  <a:srgbClr val="9DA7B3"/>
                </a:solidFill>
              </a:rPr>
              <a:t>high-water drawdown halt</a:t>
            </a:r>
          </a:p>
        </p:txBody>
      </p:sp>
      <p:sp>
        <p:nvSpPr>
          <p:cNvPr id="17" name="risk-value-5">
            <a:extLst xmlns:a="http://schemas.openxmlformats.org/drawingml/2006/main">
              <a:ext uri="{FF2B5EF4-FFF2-40B4-BE49-F238E27FC236}">
                <a16:creationId xmlns:a16="http://schemas.microsoft.com/office/drawing/2014/main" id="{DF1D3F6F-009B-4CD5-8697-5EC60293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576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C805"/>
                </a:solidFill>
              </a:defRPr>
            </a:pPr>
            <a:r>
              <a:rPr sz="2100" b="1">
                <a:solidFill>
                  <a:srgbClr val="00C805"/>
                </a:solidFill>
              </a:rPr>
              <a:t>0 orphan</a:t>
            </a:r>
          </a:p>
        </p:txBody>
      </p:sp>
      <p:sp>
        <p:nvSpPr>
          <p:cNvPr id="18" name="risk-label-5">
            <a:extLst xmlns:a="http://schemas.openxmlformats.org/drawingml/2006/main">
              <a:ext uri="{FF2B5EF4-FFF2-40B4-BE49-F238E27FC236}">
                <a16:creationId xmlns:a16="http://schemas.microsoft.com/office/drawing/2014/main" id="{FA25C4A8-964E-422A-A2F5-C9A66B44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148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A7B3"/>
                </a:solidFill>
              </a:defRPr>
            </a:pPr>
            <a:r>
              <a:rPr sz="1350" b="0">
                <a:solidFill>
                  <a:srgbClr val="9DA7B3"/>
                </a:solidFill>
              </a:rPr>
              <a:t>required broker lineage</a:t>
            </a:r>
          </a:p>
        </p:txBody>
      </p:sp>
      <p:sp>
        <p:nvSpPr>
          <p:cNvPr id="19" name="risk-rule">
            <a:extLst xmlns:a="http://schemas.openxmlformats.org/drawingml/2006/main">
              <a:ext uri="{FF2B5EF4-FFF2-40B4-BE49-F238E27FC236}">
                <a16:creationId xmlns:a16="http://schemas.microsoft.com/office/drawing/2014/main" id="{005C4114-06A4-4541-9D9C-8433DBA7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isk-footer">
            <a:extLst xmlns:a="http://schemas.openxmlformats.org/drawingml/2006/main">
              <a:ext uri="{FF2B5EF4-FFF2-40B4-BE49-F238E27FC236}">
                <a16:creationId xmlns:a16="http://schemas.microsoft.com/office/drawing/2014/main" id="{26770E59-A662-459B-BA09-E25A6D32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If quotes are stale, contracts mismatch, edge disappears after costs, or broker state cannot be reconciled, CaiSheng returns NO_TRADE or LIQUIDATE_ONLY.</a:t>
            </a:r>
          </a:p>
        </p:txBody>
      </p:sp>
    </p:spTree>
    <p:extLst>
      <p:ext uri="{BB962C8B-B14F-4D97-AF65-F5344CB8AC3E}">
        <p14:creationId xmlns:p14="http://schemas.microsoft.com/office/powerpoint/2010/main" val="382511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6">
            <a:extLst xmlns:a="http://schemas.openxmlformats.org/drawingml/2006/main">
              <a:ext uri="{FF2B5EF4-FFF2-40B4-BE49-F238E27FC236}">
                <a16:creationId xmlns:a16="http://schemas.microsoft.com/office/drawing/2014/main" id="{04BB44B1-5119-4E16-B2E7-54B163DB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000"/>
                </a:solidFill>
              </a:defRPr>
            </a:pPr>
            <a:r>
              <a:rPr sz="975" b="1">
                <a:solidFill>
                  <a:srgbClr val="FFD000"/>
                </a:solidFill>
              </a:rPr>
              <a:t>P&amp;L PERFORMANCE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C6F5685A-416D-4CC7-ABBB-4AA53811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Replay never masquerades as competition P&amp;L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6E765A4F-E556-40AE-9228-A8E1344E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DC006A7D-750A-46A8-A7BE-1EF2A032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785"/>
                </a:solidFill>
              </a:defRPr>
            </a:pPr>
            <a:r>
              <a:rPr sz="975" b="1">
                <a:solidFill>
                  <a:srgbClr val="6B7785"/>
                </a:solidFill>
              </a:rP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a099fbe424096"/>
          <a:srcRect xmlns:a="http://schemas.openxmlformats.org/drawingml/2006/main" l="0" t="1275" r="0" b="12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790700"/>
            <a:ext cx="67246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evidence-live-label">
            <a:extLst xmlns:a="http://schemas.openxmlformats.org/drawingml/2006/main">
              <a:ext uri="{FF2B5EF4-FFF2-40B4-BE49-F238E27FC236}">
                <a16:creationId xmlns:a16="http://schemas.microsoft.com/office/drawing/2014/main" id="{9EEFCAE9-70E2-4909-AF91-E10F99EE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C805"/>
                </a:solidFill>
              </a:defRPr>
            </a:pPr>
            <a:r>
              <a:rPr sz="1050" b="1">
                <a:solidFill>
                  <a:srgbClr val="00C805"/>
                </a:solidFill>
              </a:rPr>
              <a:t>ALPACA PAPER</a:t>
            </a:r>
          </a:p>
        </p:txBody>
      </p:sp>
      <p:sp>
        <p:nvSpPr>
          <p:cNvPr id="7" name="evidence-live">
            <a:extLst xmlns:a="http://schemas.openxmlformats.org/drawingml/2006/main">
              <a:ext uri="{FF2B5EF4-FFF2-40B4-BE49-F238E27FC236}">
                <a16:creationId xmlns:a16="http://schemas.microsoft.com/office/drawing/2014/main" id="{1FDED6D7-EA75-4DB9-AD6F-2FF4A21C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8" name="evidence-live-detail">
            <a:extLst xmlns:a="http://schemas.openxmlformats.org/drawingml/2006/main">
              <a:ext uri="{FF2B5EF4-FFF2-40B4-BE49-F238E27FC236}">
                <a16:creationId xmlns:a16="http://schemas.microsoft.com/office/drawing/2014/main" id="{A7E8DEFE-2E21-4CE5-B06F-A964E49B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DA7B3"/>
                </a:solidFill>
              </a:defRPr>
            </a:pPr>
            <a:r>
              <a:rPr sz="1500" b="0">
                <a:solidFill>
                  <a:srgbClr val="9DA7B3"/>
                </a:solidFill>
              </a:rPr>
              <a:t>0 governed closed trades</a:t>
            </a:r>
          </a:p>
          <a:p xmlns:a="http://schemas.openxmlformats.org/drawingml/2006/main">
            <a:pPr algn="l">
              <a:defRPr sz="1500" b="0">
                <a:solidFill>
                  <a:srgbClr val="9DA7B3"/>
                </a:solidFill>
              </a:defRPr>
            </a:pPr>
            <a:r>
              <a:rPr sz="1500" b="0">
                <a:solidFill>
                  <a:srgbClr val="9DA7B3"/>
                </a:solidFill>
              </a:rPr>
              <a:t>No realized-alpha claim</a:t>
            </a:r>
          </a:p>
        </p:txBody>
      </p:sp>
      <p:sp>
        <p:nvSpPr>
          <p:cNvPr id="9" name="evidence-replay-label">
            <a:extLst xmlns:a="http://schemas.openxmlformats.org/drawingml/2006/main">
              <a:ext uri="{FF2B5EF4-FFF2-40B4-BE49-F238E27FC236}">
                <a16:creationId xmlns:a16="http://schemas.microsoft.com/office/drawing/2014/main" id="{420CB201-BF4F-4F46-85DC-D9B0A8F6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000"/>
                </a:solidFill>
              </a:defRPr>
            </a:pPr>
            <a:r>
              <a:rPr sz="1050" b="1">
                <a:solidFill>
                  <a:srgbClr val="FFD000"/>
                </a:solidFill>
              </a:rPr>
              <a:t>CONTROLLED SYNTHETIC REPLAY</a:t>
            </a:r>
          </a:p>
        </p:txBody>
      </p:sp>
      <p:sp>
        <p:nvSpPr>
          <p:cNvPr id="10" name="evidence-replay">
            <a:extLst xmlns:a="http://schemas.openxmlformats.org/drawingml/2006/main">
              <a:ext uri="{FF2B5EF4-FFF2-40B4-BE49-F238E27FC236}">
                <a16:creationId xmlns:a16="http://schemas.microsoft.com/office/drawing/2014/main" id="{AD9661AF-C82E-41B2-AE95-D1FE895A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D000"/>
                </a:solidFill>
              </a:defRPr>
            </a:pPr>
            <a:r>
              <a:rPr sz="3600" b="1">
                <a:solidFill>
                  <a:srgbClr val="FFD000"/>
                </a:solidFill>
              </a:rPr>
              <a:t>+$2,044</a:t>
            </a:r>
          </a:p>
        </p:txBody>
      </p:sp>
      <p:sp>
        <p:nvSpPr>
          <p:cNvPr id="11" name="evidence-replay-detail">
            <a:extLst xmlns:a="http://schemas.openxmlformats.org/drawingml/2006/main">
              <a:ext uri="{FF2B5EF4-FFF2-40B4-BE49-F238E27FC236}">
                <a16:creationId xmlns:a16="http://schemas.microsoft.com/office/drawing/2014/main" id="{B87DECAC-8EAA-480C-B1A1-D7912BE6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3790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A7B3"/>
                </a:solidFill>
              </a:defRPr>
            </a:pPr>
            <a:r>
              <a:rPr sz="1350" b="0">
                <a:solidFill>
                  <a:srgbClr val="9DA7B3"/>
                </a:solidFill>
              </a:rPr>
              <a:t>4 synthetic trades · functional evidence only</a:t>
            </a:r>
          </a:p>
          <a:p xmlns:a="http://schemas.openxmlformats.org/drawingml/2006/main">
            <a:pPr algn="l">
              <a:defRPr sz="1350" b="0">
                <a:solidFill>
                  <a:srgbClr val="9DA7B3"/>
                </a:solidFill>
              </a:defRPr>
            </a:pPr>
            <a:r>
              <a:rPr sz="1350" b="0">
                <a:solidFill>
                  <a:srgbClr val="9DA7B3"/>
                </a:solidFill>
              </a:rPr>
              <a:t>38-event forecast study: promising, statistically unproven</a:t>
            </a:r>
          </a:p>
        </p:txBody>
      </p:sp>
    </p:spTree>
    <p:extLst>
      <p:ext uri="{BB962C8B-B14F-4D97-AF65-F5344CB8AC3E}">
        <p14:creationId xmlns:p14="http://schemas.microsoft.com/office/powerpoint/2010/main" val="517708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7">
            <a:extLst xmlns:a="http://schemas.openxmlformats.org/drawingml/2006/main">
              <a:ext uri="{FF2B5EF4-FFF2-40B4-BE49-F238E27FC236}">
                <a16:creationId xmlns:a16="http://schemas.microsoft.com/office/drawing/2014/main" id="{41FC8324-15C4-490C-9BF4-0DED375B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000"/>
                </a:solidFill>
              </a:defRPr>
            </a:pPr>
            <a:r>
              <a:rPr sz="975" b="1">
                <a:solidFill>
                  <a:srgbClr val="FFD000"/>
                </a:solidFill>
              </a:rPr>
              <a:t>PRESENTATION &amp; EXECUTION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526C91C5-AF56-4171-802C-89471A3B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 judge can verify the complete system in under 90 seconds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4C6E9FEF-7428-43D3-BCBF-ABC71C7B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9B203EAA-054B-4957-B8E8-E17CBAA3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785"/>
                </a:solidFill>
              </a:defRPr>
            </a:pPr>
            <a:r>
              <a:rPr sz="975" b="1">
                <a:solidFill>
                  <a:srgbClr val="6B7785"/>
                </a:solidFill>
              </a:rPr>
              <a:t>07</a:t>
            </a:r>
          </a:p>
        </p:txBody>
      </p:sp>
      <p:sp>
        <p:nvSpPr>
          <p:cNvPr id="5" name="step-n-0">
            <a:extLst xmlns:a="http://schemas.openxmlformats.org/drawingml/2006/main">
              <a:ext uri="{FF2B5EF4-FFF2-40B4-BE49-F238E27FC236}">
                <a16:creationId xmlns:a16="http://schemas.microsoft.com/office/drawing/2014/main" id="{77D442CA-E01D-43AE-BA6C-3430569D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D000"/>
                </a:solidFill>
              </a:defRPr>
            </a:pPr>
            <a:r>
              <a:rPr sz="2175" b="1">
                <a:solidFill>
                  <a:srgbClr val="FFD000"/>
                </a:solidFill>
              </a:rPr>
              <a:t>01</a:t>
            </a:r>
          </a:p>
        </p:txBody>
      </p:sp>
      <p:sp>
        <p:nvSpPr>
          <p:cNvPr id="6" name="step-head-0">
            <a:extLst xmlns:a="http://schemas.openxmlformats.org/drawingml/2006/main">
              <a:ext uri="{FF2B5EF4-FFF2-40B4-BE49-F238E27FC236}">
                <a16:creationId xmlns:a16="http://schemas.microsoft.com/office/drawing/2014/main" id="{B436E654-B365-4328-98B7-3A75C909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097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55F7"/>
                </a:solidFill>
              </a:defRPr>
            </a:pPr>
            <a:r>
              <a:rPr sz="1500" b="1">
                <a:solidFill>
                  <a:srgbClr val="A855F7"/>
                </a:solidFill>
              </a:rPr>
              <a:t>AGENT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E068D930-3714-434C-AF85-7EA5C05A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907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A7B3"/>
                </a:solidFill>
              </a:defRPr>
            </a:pPr>
            <a:r>
              <a:rPr sz="1425" b="0">
                <a:solidFill>
                  <a:srgbClr val="9DA7B3"/>
                </a:solidFill>
              </a:rPr>
              <a:t>Run sealed long-vol, short-vol, and NO_TRADE scenarios; inspect role runtime and feed identity.</a:t>
            </a:r>
          </a:p>
        </p:txBody>
      </p:sp>
      <p:sp>
        <p:nvSpPr>
          <p:cNvPr id="8" name="step-n-1">
            <a:extLst xmlns:a="http://schemas.openxmlformats.org/drawingml/2006/main">
              <a:ext uri="{FF2B5EF4-FFF2-40B4-BE49-F238E27FC236}">
                <a16:creationId xmlns:a16="http://schemas.microsoft.com/office/drawing/2014/main" id="{6B8BC22B-FD55-44A9-84BB-469DB3AE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D000"/>
                </a:solidFill>
              </a:defRPr>
            </a:pPr>
            <a:r>
              <a:rPr sz="2175" b="1">
                <a:solidFill>
                  <a:srgbClr val="FFD000"/>
                </a:solidFill>
              </a:rPr>
              <a:t>02</a:t>
            </a:r>
          </a:p>
        </p:txBody>
      </p:sp>
      <p:sp>
        <p:nvSpPr>
          <p:cNvPr id="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33C61DB0-1A8F-44CD-A58B-20494ED3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908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C805"/>
                </a:solidFill>
              </a:defRPr>
            </a:pPr>
            <a:r>
              <a:rPr sz="1500" b="1">
                <a:solidFill>
                  <a:srgbClr val="00C805"/>
                </a:solidFill>
              </a:rPr>
              <a:t>RISK</a:t>
            </a:r>
          </a:p>
        </p:txBody>
      </p:sp>
      <p:sp>
        <p:nvSpPr>
          <p:cNvPr id="1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426E076-E9F5-4623-B4AD-6C7CB73F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71775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A7B3"/>
                </a:solidFill>
              </a:defRPr>
            </a:pPr>
            <a:r>
              <a:rPr sz="1425" b="0">
                <a:solidFill>
                  <a:srgbClr val="9DA7B3"/>
                </a:solidFill>
              </a:rPr>
              <a:t>Show the 20-point gate, exact contracts, maximum loss, payoff, and rejection reasons.</a:t>
            </a:r>
          </a:p>
        </p:txBody>
      </p:sp>
      <p:sp>
        <p:nvSpPr>
          <p:cNvPr id="11" name="step-n-2">
            <a:extLst xmlns:a="http://schemas.openxmlformats.org/drawingml/2006/main">
              <a:ext uri="{FF2B5EF4-FFF2-40B4-BE49-F238E27FC236}">
                <a16:creationId xmlns:a16="http://schemas.microsoft.com/office/drawing/2014/main" id="{032EA4D9-BCAE-45D5-95C5-261007E8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D000"/>
                </a:solidFill>
              </a:defRPr>
            </a:pPr>
            <a:r>
              <a:rPr sz="2175" b="1">
                <a:solidFill>
                  <a:srgbClr val="FFD000"/>
                </a:solidFill>
              </a:rPr>
              <a:t>03</a:t>
            </a:r>
          </a:p>
        </p:txBody>
      </p:sp>
      <p:sp>
        <p:nvSpPr>
          <p:cNvPr id="12" name="step-head-2">
            <a:extLst xmlns:a="http://schemas.openxmlformats.org/drawingml/2006/main">
              <a:ext uri="{FF2B5EF4-FFF2-40B4-BE49-F238E27FC236}">
                <a16:creationId xmlns:a16="http://schemas.microsoft.com/office/drawing/2014/main" id="{A138C753-17E1-4A57-8CD0-1856B56F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719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E5FF"/>
                </a:solidFill>
              </a:defRPr>
            </a:pPr>
            <a:r>
              <a:rPr sz="1500" b="1">
                <a:solidFill>
                  <a:srgbClr val="00E5FF"/>
                </a:solidFill>
              </a:rPr>
              <a:t>ALPACA</a:t>
            </a:r>
          </a:p>
        </p:txBody>
      </p:sp>
      <p:sp>
        <p:nvSpPr>
          <p:cNvPr id="13" name="step-body-2">
            <a:extLst xmlns:a="http://schemas.openxmlformats.org/drawingml/2006/main">
              <a:ext uri="{FF2B5EF4-FFF2-40B4-BE49-F238E27FC236}">
                <a16:creationId xmlns:a16="http://schemas.microsoft.com/office/drawing/2014/main" id="{45C75B7C-9AE9-4A9E-9878-E8E955D4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5285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A7B3"/>
                </a:solidFill>
              </a:defRPr>
            </a:pPr>
            <a:r>
              <a:rPr sz="1425" b="0">
                <a:solidFill>
                  <a:srgbClr val="9DA7B3"/>
                </a:solidFill>
              </a:rPr>
              <a:t>Show CLI/MCP/skills Lockbox, canonical MLEG payload, ledger fingerprint, and reconciliation receipt.</a:t>
            </a:r>
          </a:p>
        </p:txBody>
      </p:sp>
      <p:sp>
        <p:nvSpPr>
          <p:cNvPr id="14" name="step-n-3">
            <a:extLst xmlns:a="http://schemas.openxmlformats.org/drawingml/2006/main">
              <a:ext uri="{FF2B5EF4-FFF2-40B4-BE49-F238E27FC236}">
                <a16:creationId xmlns:a16="http://schemas.microsoft.com/office/drawing/2014/main" id="{BA678460-9C07-4EEC-A85C-F8F50B0A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52975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D000"/>
                </a:solidFill>
              </a:defRPr>
            </a:pPr>
            <a:r>
              <a:rPr sz="2175" b="1">
                <a:solidFill>
                  <a:srgbClr val="FFD000"/>
                </a:solidFill>
              </a:rPr>
              <a:t>04</a:t>
            </a:r>
          </a:p>
        </p:txBody>
      </p:sp>
      <p:sp>
        <p:nvSpPr>
          <p:cNvPr id="15" name="step-head-3">
            <a:extLst xmlns:a="http://schemas.openxmlformats.org/drawingml/2006/main">
              <a:ext uri="{FF2B5EF4-FFF2-40B4-BE49-F238E27FC236}">
                <a16:creationId xmlns:a16="http://schemas.microsoft.com/office/drawing/2014/main" id="{96A4829E-254A-4763-9FB1-A68D4753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529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000"/>
                </a:solidFill>
              </a:defRPr>
            </a:pPr>
            <a:r>
              <a:rPr sz="1500" b="1">
                <a:solidFill>
                  <a:srgbClr val="FFD000"/>
                </a:solidFill>
              </a:rPr>
              <a:t>P&amp;L</a:t>
            </a:r>
          </a:p>
        </p:txBody>
      </p:sp>
      <p:sp>
        <p:nvSpPr>
          <p:cNvPr id="1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243EFDB8-6997-40C3-8D18-0AF6782D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33925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A7B3"/>
                </a:solidFill>
              </a:defRPr>
            </a:pPr>
            <a:r>
              <a:rPr sz="1425" b="0">
                <a:solidFill>
                  <a:srgbClr val="9DA7B3"/>
                </a:solidFill>
              </a:rPr>
              <a:t>Read the live paper-account result from Alpaca; keep synthetic and historical evidence visibly separate.</a:t>
            </a:r>
          </a:p>
        </p:txBody>
      </p:sp>
      <p:sp>
        <p:nvSpPr>
          <p:cNvPr id="17" name="close-rule">
            <a:extLst xmlns:a="http://schemas.openxmlformats.org/drawingml/2006/main">
              <a:ext uri="{FF2B5EF4-FFF2-40B4-BE49-F238E27FC236}">
                <a16:creationId xmlns:a16="http://schemas.microsoft.com/office/drawing/2014/main" id="{A40ED35A-C197-4F7D-9597-9EEC7424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10553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ose">
            <a:extLst xmlns:a="http://schemas.openxmlformats.org/drawingml/2006/main">
              <a:ext uri="{FF2B5EF4-FFF2-40B4-BE49-F238E27FC236}">
                <a16:creationId xmlns:a16="http://schemas.microsoft.com/office/drawing/2014/main" id="{A75C0D74-FECF-4E36-AA69-67B3BCC0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CaiSheng turns agent reasoning into a bounded, auditable Alpaca paper-trading lifecycle.</a:t>
            </a:r>
          </a:p>
        </p:txBody>
      </p:sp>
    </p:spTree>
    <p:extLst>
      <p:ext uri="{BB962C8B-B14F-4D97-AF65-F5344CB8AC3E}">
        <p14:creationId xmlns:p14="http://schemas.microsoft.com/office/powerpoint/2010/main" val="11750921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2026-09-02T02:23:51.2910000Z</dcterms:created>
  <dcterms:modified xsi:type="dcterms:W3CDTF">2026-09-02T02:23:51.2910000Z</dcterms:modified>
</coreProperties>
</file>